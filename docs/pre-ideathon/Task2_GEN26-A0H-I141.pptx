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Cell sites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03A2E"/>
              </a:solidFill>
            </c:spPr>
            <c:extLst>
              <c:ext xmlns:c16="http://schemas.microsoft.com/office/drawing/2014/chart" uri="{C3380CC4-5D6E-409C-BE32-E72D297353CC}">
                <c16:uniqueId val="{00000001-0BDF-A04C-9644-D538F24AEC84}"/>
              </c:ext>
            </c:extLst>
          </c:dPt>
          <c:dPt>
            <c:idx val="1"/>
            <c:invertIfNegative val="1"/>
            <c:bubble3D val="0"/>
            <c:spPr>
              <a:solidFill>
                <a:srgbClr val="C77C0E"/>
              </a:solidFill>
            </c:spPr>
            <c:extLst>
              <c:ext xmlns:c16="http://schemas.microsoft.com/office/drawing/2014/chart" uri="{C3380CC4-5D6E-409C-BE32-E72D297353CC}">
                <c16:uniqueId val="{00000003-0BDF-A04C-9644-D538F24AEC84}"/>
              </c:ext>
            </c:extLst>
          </c:dPt>
          <c:dPt>
            <c:idx val="2"/>
            <c:invertIfNegative val="1"/>
            <c:bubble3D val="0"/>
            <c:spPr>
              <a:solidFill>
                <a:srgbClr val="B03A2E"/>
              </a:solidFill>
            </c:spPr>
            <c:extLst>
              <c:ext xmlns:c16="http://schemas.microsoft.com/office/drawing/2014/chart" uri="{C3380CC4-5D6E-409C-BE32-E72D297353CC}">
                <c16:uniqueId val="{00000005-0BDF-A04C-9644-D538F24AEC8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052B35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Down: data link cut</c:v>
                </c:pt>
                <c:pt idx="1">
                  <c:v>Up, but running on backup power</c:v>
                </c:pt>
                <c:pt idx="2">
                  <c:v>Down: no commercial power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562</c:v>
                </c:pt>
                <c:pt idx="1">
                  <c:v>612</c:v>
                </c:pt>
                <c:pt idx="2">
                  <c:v>1351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BDF-A04C-9644-D538F24AEC8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052B35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70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50">
          <a:solidFill>
            <a:srgbClr val="052B35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3405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11" Type="http://schemas.openxmlformats.org/officeDocument/2006/relationships/image" Target="../media/image21.png"/><Relationship Id="rId5" Type="http://schemas.openxmlformats.org/officeDocument/2006/relationships/image" Target="../media/image18.png"/><Relationship Id="rId10" Type="http://schemas.openxmlformats.org/officeDocument/2006/relationships/chart" Target="../charts/chart1.xml"/><Relationship Id="rId4" Type="http://schemas.openxmlformats.org/officeDocument/2006/relationships/image" Target="../media/image1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11" Type="http://schemas.openxmlformats.org/officeDocument/2006/relationships/image" Target="../media/image15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19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</a:rPr>
              <a:t>GENESIS'26  ·  PRE-IDEATHON PITCH</a:t>
            </a:r>
            <a:endParaRPr lang="en-US" sz="1200" dirty="0"/>
          </a:p>
        </p:txBody>
      </p:sp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48640" y="2606040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4" name="Cover Lead"/>
          <p:cNvSpPr txBox="1"/>
          <p:nvPr/>
        </p:nvSpPr>
        <p:spPr>
          <a:xfrm>
            <a:off x="548640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Keeping ambulance dispatch working when the network fails.</a:t>
            </a:r>
            <a:endParaRPr lang="en-US" sz="1600" dirty="0"/>
          </a:p>
        </p:txBody>
      </p:sp>
      <p:sp>
        <p:nvSpPr>
          <p:cNvPr id="15" name="Cover Fields"/>
          <p:cNvSpPr txBox="1"/>
          <p:nvPr/>
        </p:nvSpPr>
        <p:spPr>
          <a:xfrm>
            <a:off x="548640" y="3703320"/>
            <a:ext cx="6035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Team Name – </a:t>
            </a:r>
            <a:r>
              <a:rPr lang="en-US" sz="1600" b="1" dirty="0">
                <a:solidFill>
                  <a:schemeClr val="accent3"/>
                </a:solidFill>
              </a:rPr>
              <a:t>Shinchan</a:t>
            </a:r>
            <a:endParaRPr lang="en-US" sz="1600" dirty="0"/>
          </a:p>
          <a:p>
            <a:pPr marL="279400" indent="-279400">
              <a:spcAft>
                <a:spcPts val="2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Team Members –</a:t>
            </a:r>
            <a:endParaRPr lang="en-US" sz="1600" dirty="0"/>
          </a:p>
          <a:p>
            <a:pPr marL="279400" indent="0">
              <a:spcAft>
                <a:spcPts val="12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Palella Bhanu Prasad (Team Leader)</a:t>
            </a:r>
            <a:r>
              <a:rPr lang="en-US" sz="1200" dirty="0">
                <a:solidFill>
                  <a:schemeClr val="accent6"/>
                </a:solidFill>
              </a:rPr>
              <a:t>  -  CB.AI.U4CPS25034</a:t>
            </a:r>
            <a:endParaRPr lang="en-US" sz="1300" dirty="0"/>
          </a:p>
          <a:p>
            <a:pPr marL="279400" indent="0">
              <a:spcAft>
                <a:spcPts val="120"/>
              </a:spcAft>
              <a:buNone/>
            </a:pPr>
            <a:r>
              <a:rPr lang="en-US" sz="1300" dirty="0" err="1">
                <a:solidFill>
                  <a:schemeClr val="bg1"/>
                </a:solidFill>
              </a:rPr>
              <a:t>Gullanki</a:t>
            </a:r>
            <a:r>
              <a:rPr lang="en-US" sz="1300" dirty="0">
                <a:solidFill>
                  <a:schemeClr val="bg1"/>
                </a:solidFill>
              </a:rPr>
              <a:t> Bhagya Lakshmi</a:t>
            </a:r>
            <a:r>
              <a:rPr lang="en-US" sz="1200" dirty="0">
                <a:solidFill>
                  <a:schemeClr val="accent6"/>
                </a:solidFill>
              </a:rPr>
              <a:t>                       -  CB.AI.U4CPS25018</a:t>
            </a:r>
            <a:endParaRPr lang="en-US" sz="1300" dirty="0"/>
          </a:p>
          <a:p>
            <a:pPr marL="279400" indent="0">
              <a:spcAft>
                <a:spcPts val="12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S V Pavan Kalyan</a:t>
            </a:r>
            <a:r>
              <a:rPr lang="en-US" sz="1200" dirty="0">
                <a:solidFill>
                  <a:schemeClr val="accent6"/>
                </a:solidFill>
              </a:rPr>
              <a:t>                                      -  CB.AI.U4AID25046</a:t>
            </a:r>
            <a:endParaRPr lang="en-US" sz="1300" dirty="0"/>
          </a:p>
          <a:p>
            <a:pPr marL="27940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V Manasvith Reddy</a:t>
            </a:r>
            <a:r>
              <a:rPr lang="en-US" sz="1200" dirty="0">
                <a:solidFill>
                  <a:schemeClr val="accent6"/>
                </a:solidFill>
              </a:rPr>
              <a:t>                                 - CB.AI.U4AAR26059</a:t>
            </a:r>
            <a:endParaRPr lang="en-US" sz="1300" dirty="0"/>
          </a:p>
          <a:p>
            <a:pPr marL="279400" indent="-279400">
              <a:spcAft>
                <a:spcPts val="8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Selected Domain – </a:t>
            </a:r>
            <a:r>
              <a:rPr lang="en-US" sz="1500" dirty="0">
                <a:solidFill>
                  <a:schemeClr val="accent6"/>
                </a:solidFill>
              </a:rPr>
              <a:t>Energy, Mobility &amp; Smart Infrastructure</a:t>
            </a:r>
            <a:endParaRPr lang="en-US" sz="1600" dirty="0"/>
          </a:p>
          <a:p>
            <a:pPr marL="279400" indent="-279400">
              <a:spcAft>
                <a:spcPts val="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Problem Statement – </a:t>
            </a:r>
            <a:r>
              <a:rPr lang="en-US" sz="1500" dirty="0">
                <a:solidFill>
                  <a:schemeClr val="accent6"/>
                </a:solidFill>
              </a:rPr>
              <a:t>Ambulance dispatch that keeps working when the mobile network or the control room fails</a:t>
            </a:r>
            <a:endParaRPr lang="en-US" sz="1600" dirty="0"/>
          </a:p>
        </p:txBody>
      </p:sp>
      <p:sp>
        <p:nvSpPr>
          <p:cNvPr id="16" name="Slide Number"/>
          <p:cNvSpPr txBox="1"/>
          <p:nvPr/>
        </p:nvSpPr>
        <p:spPr>
          <a:xfrm>
            <a:off x="11384280" y="6355080"/>
            <a:ext cx="5029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en-US" sz="1200" b="1">
                <a:solidFill>
                  <a:srgbClr val="7FA79A"/>
                </a:solidFill>
              </a:rPr>
              <a:t>1</a:t>
            </a:fld>
            <a:endParaRPr lang="en-US" sz="1200" b="1">
              <a:solidFill>
                <a:srgbClr val="7FA79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 spc="200">
                <a:solidFill>
                  <a:srgbClr val="4FA278"/>
                </a:solidFill>
              </a:rPr>
              <a:t>02  ·  DOMAIN PROBLEM IN OUR WORDS</a:t>
            </a:r>
            <a:endParaRPr lang="en-US" sz="2400" dirty="0"/>
          </a:p>
          <a:p>
            <a:pPr algn="ctr"/>
            <a:r>
              <a:rPr sz="2200" b="1">
                <a:solidFill>
                  <a:srgbClr val="052B35"/>
                </a:solidFill>
                <a:latin typeface="Cambria"/>
              </a:rPr>
              <a:t>Dispatch decides on a map that is already out of date</a:t>
            </a:r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 NAME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Shinchan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98448"/>
            <a:ext cx="644652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13898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B03A2E"/>
                </a:solidFill>
              </a:rPr>
              <a:t>ONE EMERGENCY CALL ON A BAD NETWORK DAY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" y="2606040"/>
            <a:ext cx="5989320" cy="0"/>
          </a:xfrm>
          <a:prstGeom prst="line">
            <a:avLst/>
          </a:prstGeom>
          <a:ln w="88900">
            <a:solidFill>
              <a:srgbClr val="E3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77240" y="3931920"/>
            <a:ext cx="5989320" cy="0"/>
          </a:xfrm>
          <a:prstGeom prst="line">
            <a:avLst/>
          </a:prstGeom>
          <a:ln w="88900">
            <a:solidFill>
              <a:srgbClr val="E3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600200" y="1920240"/>
            <a:ext cx="0" cy="2697480"/>
          </a:xfrm>
          <a:prstGeom prst="line">
            <a:avLst/>
          </a:prstGeom>
          <a:ln w="88900">
            <a:solidFill>
              <a:srgbClr val="E3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337560" y="1920240"/>
            <a:ext cx="0" cy="2697480"/>
          </a:xfrm>
          <a:prstGeom prst="line">
            <a:avLst/>
          </a:prstGeom>
          <a:ln w="88900">
            <a:solidFill>
              <a:srgbClr val="E3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29200" y="1920240"/>
            <a:ext cx="0" cy="2697480"/>
          </a:xfrm>
          <a:prstGeom prst="line">
            <a:avLst/>
          </a:prstGeom>
          <a:ln w="88900">
            <a:solidFill>
              <a:srgbClr val="E3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263640" y="1920240"/>
            <a:ext cx="0" cy="2697480"/>
          </a:xfrm>
          <a:prstGeom prst="line">
            <a:avLst/>
          </a:prstGeom>
          <a:ln w="88900">
            <a:solidFill>
              <a:srgbClr val="E3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977639" y="2606040"/>
            <a:ext cx="777241" cy="0"/>
          </a:xfrm>
          <a:prstGeom prst="line">
            <a:avLst/>
          </a:prstGeom>
          <a:ln w="88900">
            <a:solidFill>
              <a:srgbClr val="2F7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840480" y="2286000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F7FC1"/>
                </a:solidFill>
              </a:rPr>
              <a:t>flooded road</a:t>
            </a:r>
          </a:p>
        </p:txBody>
      </p:sp>
      <p:pic>
        <p:nvPicPr>
          <p:cNvPr id="36" name="Icon FaLocationDot" descr="FaLocationDot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2194560"/>
            <a:ext cx="420624" cy="42062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1883664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B03A2E"/>
                </a:solidFill>
              </a:rPr>
              <a:t>Patient</a:t>
            </a:r>
          </a:p>
        </p:txBody>
      </p:sp>
      <p:sp>
        <p:nvSpPr>
          <p:cNvPr id="38" name="Oval 37"/>
          <p:cNvSpPr/>
          <p:nvPr/>
        </p:nvSpPr>
        <p:spPr>
          <a:xfrm>
            <a:off x="1216152" y="3547872"/>
            <a:ext cx="768096" cy="768096"/>
          </a:xfrm>
          <a:prstGeom prst="ellipse">
            <a:avLst/>
          </a:prstGeom>
          <a:noFill/>
          <a:ln w="15875">
            <a:solidFill>
              <a:srgbClr val="5B6F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Icon FaTruckMedical" descr="FaTruckMedical_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>
            <a:off x="1371600" y="3703320"/>
            <a:ext cx="457200" cy="457200"/>
          </a:xfrm>
          <a:prstGeom prst="rect">
            <a:avLst/>
          </a:prstGeom>
        </p:spPr>
      </p:pic>
      <p:pic>
        <p:nvPicPr>
          <p:cNvPr id="40" name="Icon FaClock" descr="FaClock_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3456432"/>
            <a:ext cx="256032" cy="256032"/>
          </a:xfrm>
          <a:prstGeom prst="rect">
            <a:avLst/>
          </a:prstGeom>
        </p:spPr>
      </p:pic>
      <p:cxnSp>
        <p:nvCxnSpPr>
          <p:cNvPr id="41" name="Connector 40"/>
          <p:cNvCxnSpPr/>
          <p:nvPr/>
        </p:nvCxnSpPr>
        <p:spPr>
          <a:xfrm flipV="1">
            <a:off x="1901952" y="2761488"/>
            <a:ext cx="1252728" cy="896112"/>
          </a:xfrm>
          <a:prstGeom prst="line">
            <a:avLst/>
          </a:prstGeom>
          <a:ln w="22225">
            <a:solidFill>
              <a:srgbClr val="02685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783080" y="29992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026855"/>
                </a:solidFill>
              </a:rPr>
              <a:t>"A1, go. 5 min."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20" y="4041648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5B6F6B"/>
                </a:solidFill>
              </a:rPr>
              <a:t>Control room's screen: </a:t>
            </a:r>
            <a:r>
              <a:rPr sz="1050" b="0" i="0">
                <a:solidFill>
                  <a:srgbClr val="5B6F6B"/>
                </a:solidFill>
              </a:rPr>
              <a:t>A1 is free, 3 km away. Last update came 6 minutes ago.</a:t>
            </a:r>
          </a:p>
        </p:txBody>
      </p:sp>
      <p:sp>
        <p:nvSpPr>
          <p:cNvPr id="44" name="Oval 43"/>
          <p:cNvSpPr/>
          <p:nvPr/>
        </p:nvSpPr>
        <p:spPr>
          <a:xfrm>
            <a:off x="5989320" y="2331720"/>
            <a:ext cx="548640" cy="548640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Icon FaTruckMedical" descr="FaTruckMedical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0993" y="2463393"/>
            <a:ext cx="285292" cy="285292"/>
          </a:xfrm>
          <a:prstGeom prst="rect">
            <a:avLst/>
          </a:prstGeom>
        </p:spPr>
      </p:pic>
      <p:pic>
        <p:nvPicPr>
          <p:cNvPr id="46" name="Icon MdWifiOff" descr="MdWifiOff_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5392" y="2075688"/>
            <a:ext cx="292608" cy="29260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120640" y="2944368"/>
            <a:ext cx="1691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B03A2E"/>
                </a:solidFill>
              </a:rPr>
              <a:t>Reality: </a:t>
            </a:r>
            <a:r>
              <a:rPr sz="1050" b="0" i="0">
                <a:solidFill>
                  <a:srgbClr val="052B35"/>
                </a:solidFill>
              </a:rPr>
              <a:t>A1 is carrying another patient, 8 km away, with no signal.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828032"/>
            <a:ext cx="6080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52B35"/>
                </a:solidFill>
              </a:rPr>
              <a:t>The decision logic is fine. </a:t>
            </a:r>
            <a:r>
              <a:rPr sz="1300" b="1" i="0">
                <a:solidFill>
                  <a:srgbClr val="B03A2E"/>
                </a:solidFill>
              </a:rPr>
              <a:t>The picture of the city it is working from is wrong.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129844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26855"/>
                </a:solidFill>
              </a:rPr>
              <a:t>WHY THIS CAN'T WAIT</a:t>
            </a:r>
          </a:p>
        </p:txBody>
      </p:sp>
      <p:sp>
        <p:nvSpPr>
          <p:cNvPr id="50" name="Rounded Rectangle 49"/>
          <p:cNvSpPr/>
          <p:nvPr/>
        </p:nvSpPr>
        <p:spPr>
          <a:xfrm rot="21516000">
            <a:off x="7315200" y="1645920"/>
            <a:ext cx="4297680" cy="987552"/>
          </a:xfrm>
          <a:prstGeom prst="roundRect">
            <a:avLst>
              <a:gd name="adj" fmla="val 4629"/>
            </a:avLst>
          </a:prstGeom>
          <a:solidFill>
            <a:srgbClr val="FFFFFF"/>
          </a:solidFill>
          <a:ln w="12700">
            <a:solidFill>
              <a:srgbClr val="C9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t"/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5B6F6B"/>
                </a:solidFill>
              </a:rPr>
              <a:t>BUSINESS STANDARD · DEC 2023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52B35"/>
                </a:solidFill>
              </a:rPr>
              <a:t>Chennai: Jio, Airtel, Vi and BSNL disrupted in Cyclone Michaung</a:t>
            </a:r>
          </a:p>
          <a:p>
            <a:pPr algn="l"/>
            <a:r>
              <a:rPr sz="1000" b="0" i="0">
                <a:solidFill>
                  <a:srgbClr val="5B6F6B"/>
                </a:solidFill>
              </a:rPr>
              <a:t>Tower batteries and diesel ran out. Residents asked how to reach rescue teams with no network.</a:t>
            </a:r>
          </a:p>
        </p:txBody>
      </p:sp>
      <p:sp>
        <p:nvSpPr>
          <p:cNvPr id="51" name="Oval 50"/>
          <p:cNvSpPr/>
          <p:nvPr/>
        </p:nvSpPr>
        <p:spPr>
          <a:xfrm>
            <a:off x="9390888" y="1572768"/>
            <a:ext cx="155448" cy="155448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 rot="72000">
            <a:off x="7315200" y="2834640"/>
            <a:ext cx="4297680" cy="987552"/>
          </a:xfrm>
          <a:prstGeom prst="roundRect">
            <a:avLst>
              <a:gd name="adj" fmla="val 4629"/>
            </a:avLst>
          </a:prstGeom>
          <a:solidFill>
            <a:srgbClr val="FFFFFF"/>
          </a:solidFill>
          <a:ln w="12700">
            <a:solidFill>
              <a:srgbClr val="C9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t"/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5B6F6B"/>
                </a:solidFill>
              </a:rPr>
              <a:t>FCC DATA · SEPT 2024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52B35"/>
                </a:solidFill>
              </a:rPr>
              <a:t>74% of cell sites down in North Carolina after Hurricane Helene</a:t>
            </a:r>
          </a:p>
          <a:p>
            <a:pPr algn="l"/>
            <a:r>
              <a:rPr sz="1000" b="0" i="0">
                <a:solidFill>
                  <a:srgbClr val="5B6F6B"/>
                </a:solidFill>
              </a:rPr>
              <a:t>Most failed for lack of power, right when people needed to call for help.</a:t>
            </a:r>
          </a:p>
        </p:txBody>
      </p:sp>
      <p:sp>
        <p:nvSpPr>
          <p:cNvPr id="53" name="Oval 52"/>
          <p:cNvSpPr/>
          <p:nvPr/>
        </p:nvSpPr>
        <p:spPr>
          <a:xfrm>
            <a:off x="9390888" y="2761488"/>
            <a:ext cx="155448" cy="155448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 rot="21546000">
            <a:off x="7315200" y="4023360"/>
            <a:ext cx="4297680" cy="987552"/>
          </a:xfrm>
          <a:prstGeom prst="roundRect">
            <a:avLst>
              <a:gd name="adj" fmla="val 4629"/>
            </a:avLst>
          </a:prstGeom>
          <a:solidFill>
            <a:srgbClr val="FFFFFF"/>
          </a:solidFill>
          <a:ln w="12700">
            <a:solidFill>
              <a:srgbClr val="C9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t"/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5B6F6B"/>
                </a:solidFill>
              </a:rPr>
              <a:t>JEMS · NEW YORK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52B35"/>
                </a:solidFill>
              </a:rPr>
              <a:t>FDNY dispatch system crashes for almost two hours</a:t>
            </a:r>
          </a:p>
          <a:p>
            <a:pPr algn="l"/>
            <a:r>
              <a:rPr sz="1000" b="0" i="0">
                <a:solidFill>
                  <a:srgbClr val="5B6F6B"/>
                </a:solidFill>
              </a:rPr>
              <a:t>Call-takers wrote jobs on paper and handed them to dispatchers by hand.</a:t>
            </a:r>
          </a:p>
        </p:txBody>
      </p:sp>
      <p:sp>
        <p:nvSpPr>
          <p:cNvPr id="55" name="Oval 54"/>
          <p:cNvSpPr/>
          <p:nvPr/>
        </p:nvSpPr>
        <p:spPr>
          <a:xfrm>
            <a:off x="9390888" y="3950208"/>
            <a:ext cx="155448" cy="155448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Icon FaHeartPulse" descr="FaHeartPulse_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5184648"/>
            <a:ext cx="274320" cy="27432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662672" y="5120640"/>
            <a:ext cx="397763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52B35"/>
                </a:solidFill>
              </a:rPr>
              <a:t>In cardiac arrest, stroke and major trauma, every lost minute matters.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053328"/>
            <a:ext cx="11109960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900" b="0" i="1">
                <a:solidFill>
                  <a:srgbClr val="5B6F6B"/>
                </a:solidFill>
              </a:rPr>
              <a:t>Sources: Business Standard, 5 Dec 2023; FCC figures via The Next Web (2024); JEMS, "FDNY Dispatch System Crashes". Icons: Font Awesome Free (CC BY 4.0), via react-icons.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 spc="200">
                <a:solidFill>
                  <a:srgbClr val="4FA278"/>
                </a:solidFill>
              </a:rPr>
              <a:t>03  ·  WHO IS AFFECTED?</a:t>
            </a:r>
            <a:endParaRPr lang="en-US" sz="2400" dirty="0"/>
          </a:p>
          <a:p>
            <a:pPr algn="ctr"/>
            <a:r>
              <a:rPr sz="2200" b="1">
                <a:solidFill>
                  <a:srgbClr val="052B35"/>
                </a:solidFill>
                <a:latin typeface="Cambria"/>
              </a:rPr>
              <a:t>Patients feel it first; the whole chain feels it next</a:t>
            </a:r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 NAME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Shinchan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845819" y="1467612"/>
            <a:ext cx="4343400" cy="4343400"/>
          </a:xfrm>
          <a:prstGeom prst="ellipse">
            <a:avLst/>
          </a:prstGeom>
          <a:solidFill>
            <a:srgbClr val="E1EFE6"/>
          </a:solidFill>
          <a:ln w="15875">
            <a:solidFill>
              <a:srgbClr val="B9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508760" y="2130552"/>
            <a:ext cx="3017520" cy="3017520"/>
          </a:xfrm>
          <a:prstGeom prst="ellipse">
            <a:avLst/>
          </a:prstGeom>
          <a:solidFill>
            <a:srgbClr val="B9DCC8"/>
          </a:solidFill>
          <a:ln w="15875">
            <a:solidFill>
              <a:srgbClr val="9CC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176272" y="2798064"/>
            <a:ext cx="1682496" cy="1682496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Icon FaUserInjured" descr="FaUserInjure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496" y="3017520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240279" y="3438144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 i="0" dirty="0">
                <a:solidFill>
                  <a:srgbClr val="FFFFFF"/>
                </a:solidFill>
              </a:rPr>
              <a:t>Patients &amp; callers</a:t>
            </a:r>
          </a:p>
          <a:p>
            <a:pPr algn="ctr"/>
            <a:r>
              <a:rPr sz="950" b="0" i="1" dirty="0">
                <a:solidFill>
                  <a:srgbClr val="CFE8D8"/>
                </a:solidFill>
              </a:rPr>
              <a:t>hit hardest in disasters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79" y="229514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52B35"/>
                </a:solidFill>
              </a:rPr>
              <a:t>Ambulance crews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79" y="4672583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52B35"/>
                </a:solidFill>
              </a:rPr>
              <a:t>108 / 112 dispatchers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1645919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94542"/>
                </a:solidFill>
              </a:rPr>
              <a:t>Hospitals  ·  Police &amp; traffic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79" y="534009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94542"/>
                </a:solidFill>
              </a:rPr>
              <a:t>Disaster authorities  ·  Telecom</a:t>
            </a:r>
          </a:p>
        </p:txBody>
      </p:sp>
      <p:sp>
        <p:nvSpPr>
          <p:cNvPr id="35" name="Oval 34"/>
          <p:cNvSpPr/>
          <p:nvPr/>
        </p:nvSpPr>
        <p:spPr>
          <a:xfrm>
            <a:off x="5897880" y="1344168"/>
            <a:ext cx="164592" cy="164592"/>
          </a:xfrm>
          <a:prstGeom prst="ellipse">
            <a:avLst/>
          </a:prstGeom>
          <a:solidFill>
            <a:srgbClr val="B9DCC8"/>
          </a:solidFill>
          <a:ln w="9525">
            <a:solidFill>
              <a:srgbClr val="9CC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53912" y="12801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26855"/>
                </a:solidFill>
              </a:rPr>
              <a:t>PRIMARY USERS  (inner rings)</a:t>
            </a:r>
          </a:p>
        </p:txBody>
      </p:sp>
      <p:sp>
        <p:nvSpPr>
          <p:cNvPr id="37" name="Oval 36"/>
          <p:cNvSpPr/>
          <p:nvPr/>
        </p:nvSpPr>
        <p:spPr>
          <a:xfrm>
            <a:off x="5907024" y="1600200"/>
            <a:ext cx="384048" cy="384048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Icon FaUserNurse" descr="FaUserNur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9195" y="1692371"/>
            <a:ext cx="199704" cy="19970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400800" y="1609344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052B35"/>
                </a:solidFill>
              </a:rPr>
              <a:t>Ambulance crews  </a:t>
            </a:r>
            <a:r>
              <a:rPr sz="1100" b="0" i="0">
                <a:solidFill>
                  <a:srgbClr val="5B6F6B"/>
                </a:solidFill>
              </a:rPr>
              <a:t>drivers and EMTs who need instructions even with no signal</a:t>
            </a:r>
          </a:p>
        </p:txBody>
      </p:sp>
      <p:sp>
        <p:nvSpPr>
          <p:cNvPr id="40" name="Oval 39"/>
          <p:cNvSpPr/>
          <p:nvPr/>
        </p:nvSpPr>
        <p:spPr>
          <a:xfrm>
            <a:off x="5907024" y="2029968"/>
            <a:ext cx="384048" cy="384048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Icon FaHeadset" descr="FaHeads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9195" y="2122139"/>
            <a:ext cx="199704" cy="1997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400800" y="2039112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052B35"/>
                </a:solidFill>
              </a:rPr>
              <a:t>Dispatchers  </a:t>
            </a:r>
            <a:r>
              <a:rPr sz="1100" b="0" i="0">
                <a:solidFill>
                  <a:srgbClr val="5B6F6B"/>
                </a:solidFill>
              </a:rPr>
              <a:t>call-takers in 108 / 112 control rooms</a:t>
            </a:r>
          </a:p>
        </p:txBody>
      </p:sp>
      <p:sp>
        <p:nvSpPr>
          <p:cNvPr id="43" name="Oval 42"/>
          <p:cNvSpPr/>
          <p:nvPr/>
        </p:nvSpPr>
        <p:spPr>
          <a:xfrm>
            <a:off x="5907024" y="2459736"/>
            <a:ext cx="384048" cy="384048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Icon FaUserInjured" descr="FaUserInjure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9195" y="2551907"/>
            <a:ext cx="199704" cy="19970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400800" y="2468880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052B35"/>
                </a:solidFill>
              </a:rPr>
              <a:t>Patients &amp; callers  </a:t>
            </a:r>
            <a:r>
              <a:rPr sz="1100" b="0" i="0">
                <a:solidFill>
                  <a:srgbClr val="5B6F6B"/>
                </a:solidFill>
              </a:rPr>
              <a:t>especially in floods, cyclones and blackouts</a:t>
            </a:r>
          </a:p>
        </p:txBody>
      </p:sp>
      <p:sp>
        <p:nvSpPr>
          <p:cNvPr id="46" name="Oval 45"/>
          <p:cNvSpPr/>
          <p:nvPr/>
        </p:nvSpPr>
        <p:spPr>
          <a:xfrm>
            <a:off x="5897880" y="3054096"/>
            <a:ext cx="164592" cy="164592"/>
          </a:xfrm>
          <a:prstGeom prst="ellipse">
            <a:avLst/>
          </a:prstGeom>
          <a:solidFill>
            <a:srgbClr val="E1EFE6"/>
          </a:solidFill>
          <a:ln w="9525">
            <a:solidFill>
              <a:srgbClr val="9CC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53912" y="299008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26855"/>
                </a:solidFill>
              </a:rPr>
              <a:t>SECONDARY STAKEHOLDERS  (outer ring)</a:t>
            </a:r>
          </a:p>
        </p:txBody>
      </p:sp>
      <p:sp>
        <p:nvSpPr>
          <p:cNvPr id="48" name="Oval 47"/>
          <p:cNvSpPr/>
          <p:nvPr/>
        </p:nvSpPr>
        <p:spPr>
          <a:xfrm>
            <a:off x="5897880" y="3319272"/>
            <a:ext cx="365760" cy="365760"/>
          </a:xfrm>
          <a:prstGeom prst="ellipse">
            <a:avLst/>
          </a:prstGeom>
          <a:solidFill>
            <a:srgbClr val="4F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Icon FaHospital" descr="FaHospital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5662" y="3407054"/>
            <a:ext cx="190195" cy="19019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355080" y="3319272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52B35"/>
                </a:solidFill>
              </a:rPr>
              <a:t>Hospitals and emergency departments</a:t>
            </a:r>
          </a:p>
        </p:txBody>
      </p:sp>
      <p:sp>
        <p:nvSpPr>
          <p:cNvPr id="51" name="Oval 50"/>
          <p:cNvSpPr/>
          <p:nvPr/>
        </p:nvSpPr>
        <p:spPr>
          <a:xfrm>
            <a:off x="8778240" y="3319272"/>
            <a:ext cx="365760" cy="365760"/>
          </a:xfrm>
          <a:prstGeom prst="ellipse">
            <a:avLst/>
          </a:prstGeom>
          <a:solidFill>
            <a:srgbClr val="4F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Icon FaTrafficLight" descr="FaTrafficLigh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6022" y="3407054"/>
            <a:ext cx="190195" cy="19019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235440" y="3319272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52B35"/>
                </a:solidFill>
              </a:rPr>
              <a:t>Police and traffic teams</a:t>
            </a:r>
          </a:p>
        </p:txBody>
      </p:sp>
      <p:sp>
        <p:nvSpPr>
          <p:cNvPr id="54" name="Oval 53"/>
          <p:cNvSpPr/>
          <p:nvPr/>
        </p:nvSpPr>
        <p:spPr>
          <a:xfrm>
            <a:off x="5897880" y="3776472"/>
            <a:ext cx="365760" cy="365760"/>
          </a:xfrm>
          <a:prstGeom prst="ellipse">
            <a:avLst/>
          </a:prstGeom>
          <a:solidFill>
            <a:srgbClr val="4F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Icon FaLandmark" descr="FaLandmark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5662" y="3864254"/>
            <a:ext cx="190195" cy="19019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355080" y="3776472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52B35"/>
                </a:solidFill>
              </a:rPr>
              <a:t>State and district disaster authorities</a:t>
            </a:r>
          </a:p>
        </p:txBody>
      </p:sp>
      <p:sp>
        <p:nvSpPr>
          <p:cNvPr id="57" name="Oval 56"/>
          <p:cNvSpPr/>
          <p:nvPr/>
        </p:nvSpPr>
        <p:spPr>
          <a:xfrm>
            <a:off x="8778240" y="3776472"/>
            <a:ext cx="365760" cy="365760"/>
          </a:xfrm>
          <a:prstGeom prst="ellipse">
            <a:avLst/>
          </a:prstGeom>
          <a:solidFill>
            <a:srgbClr val="4F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Icon FaTowerCell" descr="FaTowerCell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6022" y="3864254"/>
            <a:ext cx="190195" cy="19019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235440" y="3776472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52B35"/>
                </a:solidFill>
              </a:rPr>
              <a:t>Telecom operators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97880" y="43434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26855"/>
                </a:solidFill>
              </a:rPr>
              <a:t>WHO BENEFITS, AND HOW</a:t>
            </a:r>
          </a:p>
        </p:txBody>
      </p:sp>
      <p:pic>
        <p:nvPicPr>
          <p:cNvPr id="61" name="Icon FaCheck" descr="FaCheck_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5312" y="4709160"/>
            <a:ext cx="201168" cy="20116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217920" y="4645152"/>
            <a:ext cx="5440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52B35"/>
                </a:solidFill>
              </a:rPr>
              <a:t>Patients </a:t>
            </a:r>
            <a:r>
              <a:rPr sz="1100" b="0" i="0">
                <a:solidFill>
                  <a:srgbClr val="5B6F6B"/>
                </a:solidFill>
              </a:rPr>
              <a:t>reach care sooner, even in the middle of a disaster</a:t>
            </a:r>
          </a:p>
        </p:txBody>
      </p:sp>
      <p:pic>
        <p:nvPicPr>
          <p:cNvPr id="63" name="Icon FaCheck" descr="FaCheck_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5312" y="5047488"/>
            <a:ext cx="201168" cy="201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217920" y="4983480"/>
            <a:ext cx="5440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52B35"/>
                </a:solidFill>
              </a:rPr>
              <a:t>Crews </a:t>
            </a:r>
            <a:r>
              <a:rPr sz="1100" b="0" i="0">
                <a:solidFill>
                  <a:srgbClr val="5B6F6B"/>
                </a:solidFill>
              </a:rPr>
              <a:t>still get clear jobs when they drive into a dead zone</a:t>
            </a:r>
          </a:p>
        </p:txBody>
      </p:sp>
      <p:pic>
        <p:nvPicPr>
          <p:cNvPr id="65" name="Icon FaCheck" descr="FaCheck_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5312" y="5385816"/>
            <a:ext cx="201168" cy="20116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217920" y="5321808"/>
            <a:ext cx="5440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52B35"/>
                </a:solidFill>
              </a:rPr>
              <a:t>Control rooms </a:t>
            </a:r>
            <a:r>
              <a:rPr sz="1100" b="0" i="0">
                <a:solidFill>
                  <a:srgbClr val="5B6F6B"/>
                </a:solidFill>
              </a:rPr>
              <a:t>always know which ambulance data they can trust</a:t>
            </a:r>
          </a:p>
        </p:txBody>
      </p:sp>
      <p:pic>
        <p:nvPicPr>
          <p:cNvPr id="67" name="Icon FaCheck" descr="FaCheck_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5312" y="5724144"/>
            <a:ext cx="201168" cy="20116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217920" y="5660136"/>
            <a:ext cx="5440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52B35"/>
                </a:solidFill>
              </a:rPr>
              <a:t>Rural &amp; coastal areas </a:t>
            </a:r>
            <a:r>
              <a:rPr sz="1100" b="0" i="0">
                <a:solidFill>
                  <a:srgbClr val="5B6F6B"/>
                </a:solidFill>
              </a:rPr>
              <a:t>with weak coverage get the same service as the city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053328"/>
            <a:ext cx="11109960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900" b="0" i="1">
                <a:solidFill>
                  <a:srgbClr val="5B6F6B"/>
                </a:solidFill>
              </a:rPr>
              <a:t>Icons: Font Awesome Free (CC BY 4.0), via react-icons.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 spc="200">
                <a:solidFill>
                  <a:srgbClr val="4FA278"/>
                </a:solidFill>
              </a:rPr>
              <a:t>04  ·  CURRENT SITUATION &amp; CONTEXT</a:t>
            </a:r>
            <a:endParaRPr lang="en-US" sz="2400" dirty="0"/>
          </a:p>
          <a:p>
            <a:pPr algn="ctr"/>
            <a:r>
              <a:rPr sz="2200" b="1">
                <a:solidFill>
                  <a:srgbClr val="052B35"/>
                </a:solidFill>
                <a:latin typeface="Cambria"/>
              </a:rPr>
              <a:t>3 of 5 dispatch steps need a working network</a:t>
            </a:r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 NAME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Shinchan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801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26855"/>
                </a:solidFill>
              </a:rPr>
              <a:t>HOW A 108 / 112 CALL IS HANDLED TODAY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1554480"/>
            <a:ext cx="11109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052B35"/>
                </a:solidFill>
              </a:rPr>
              <a:t>One control room runs everything. Computer-aided dispatch (CAD) software tracks every ambulance through GPS and the crew's status updates.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417320" y="2377440"/>
            <a:ext cx="8961120" cy="0"/>
          </a:xfrm>
          <a:prstGeom prst="line">
            <a:avLst/>
          </a:prstGeom>
          <a:ln w="50800">
            <a:solidFill>
              <a:srgbClr val="D3E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051560" y="2011680"/>
            <a:ext cx="731520" cy="731520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on FaPhone" descr="FaPhon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124" y="2187244"/>
            <a:ext cx="380390" cy="380390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1581912" y="1929384"/>
            <a:ext cx="292608" cy="292608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Icon FaWifi" descr="FaWifi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7748" y="1995220"/>
            <a:ext cx="160934" cy="16093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93191" y="2807208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26855"/>
                </a:solidFill>
              </a:rPr>
              <a:t>1  Call comes 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1" y="3081528"/>
            <a:ext cx="20482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052B35"/>
                </a:solidFill>
              </a:rPr>
              <a:t>Call-taker notes the place and the patient's condition</a:t>
            </a:r>
          </a:p>
        </p:txBody>
      </p:sp>
      <p:sp>
        <p:nvSpPr>
          <p:cNvPr id="35" name="Oval 34"/>
          <p:cNvSpPr/>
          <p:nvPr/>
        </p:nvSpPr>
        <p:spPr>
          <a:xfrm>
            <a:off x="3291840" y="2011680"/>
            <a:ext cx="731520" cy="731520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Icon FaDesktop" descr="FaDeskto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404" y="2187244"/>
            <a:ext cx="380390" cy="38039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33472" y="2807208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26855"/>
                </a:solidFill>
              </a:rPr>
              <a:t>2  Ambulance chosen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33472" y="3081528"/>
            <a:ext cx="20482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052B35"/>
                </a:solidFill>
              </a:rPr>
              <a:t>CAD picks the nearest free unit from its last known position</a:t>
            </a:r>
          </a:p>
        </p:txBody>
      </p:sp>
      <p:sp>
        <p:nvSpPr>
          <p:cNvPr id="39" name="Oval 38"/>
          <p:cNvSpPr/>
          <p:nvPr/>
        </p:nvSpPr>
        <p:spPr>
          <a:xfrm>
            <a:off x="5532120" y="2011680"/>
            <a:ext cx="731520" cy="731520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Icon FaTowerBroadcast" descr="FaTowerBroadcas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7684" y="2187244"/>
            <a:ext cx="380390" cy="380390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6062472" y="1929384"/>
            <a:ext cx="292608" cy="292608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Icon FaWifi" descr="FaWifi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8308" y="1995220"/>
            <a:ext cx="160934" cy="16093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873752" y="2807208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26855"/>
                </a:solidFill>
              </a:rPr>
              <a:t>3  Crew informed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73752" y="3081528"/>
            <a:ext cx="20482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052B35"/>
                </a:solidFill>
              </a:rPr>
              <a:t>Job details go out over mobile data or a phone call</a:t>
            </a:r>
          </a:p>
        </p:txBody>
      </p:sp>
      <p:sp>
        <p:nvSpPr>
          <p:cNvPr id="45" name="Oval 44"/>
          <p:cNvSpPr/>
          <p:nvPr/>
        </p:nvSpPr>
        <p:spPr>
          <a:xfrm>
            <a:off x="7772400" y="2011680"/>
            <a:ext cx="731520" cy="731520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Icon FaTruckMedical" descr="FaTruckMedical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7964" y="2187244"/>
            <a:ext cx="380390" cy="380390"/>
          </a:xfrm>
          <a:prstGeom prst="rect">
            <a:avLst/>
          </a:prstGeom>
        </p:spPr>
      </p:pic>
      <p:sp>
        <p:nvSpPr>
          <p:cNvPr id="47" name="Oval 46"/>
          <p:cNvSpPr/>
          <p:nvPr/>
        </p:nvSpPr>
        <p:spPr>
          <a:xfrm>
            <a:off x="8302752" y="1929384"/>
            <a:ext cx="292608" cy="292608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Icon FaWifi" descr="FaWifi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8588" y="1995220"/>
            <a:ext cx="160934" cy="16093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114032" y="2807208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26855"/>
                </a:solidFill>
              </a:rPr>
              <a:t>4  Crew responds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4032" y="3081528"/>
            <a:ext cx="20482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052B35"/>
                </a:solidFill>
              </a:rPr>
              <a:t>Ambulance drives out and updates its status when it can</a:t>
            </a:r>
          </a:p>
        </p:txBody>
      </p:sp>
      <p:sp>
        <p:nvSpPr>
          <p:cNvPr id="51" name="Oval 50"/>
          <p:cNvSpPr/>
          <p:nvPr/>
        </p:nvSpPr>
        <p:spPr>
          <a:xfrm>
            <a:off x="10012680" y="2011680"/>
            <a:ext cx="731520" cy="731520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Icon FaHospital" descr="FaHospital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88244" y="2187244"/>
            <a:ext cx="380390" cy="38039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354312" y="2807208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26855"/>
                </a:solidFill>
              </a:rPr>
              <a:t>5  Hospital handover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54312" y="3081528"/>
            <a:ext cx="20482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052B35"/>
                </a:solidFill>
              </a:rPr>
              <a:t>Patient handed over; ambulance marked free again</a:t>
            </a:r>
          </a:p>
        </p:txBody>
      </p:sp>
      <p:sp>
        <p:nvSpPr>
          <p:cNvPr id="55" name="Oval 54"/>
          <p:cNvSpPr/>
          <p:nvPr/>
        </p:nvSpPr>
        <p:spPr>
          <a:xfrm>
            <a:off x="557784" y="3666744"/>
            <a:ext cx="256032" cy="256032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Icon FaWifi" descr="FaWifi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" y="3724351"/>
            <a:ext cx="140817" cy="14081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86968" y="36667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B03A2E"/>
                </a:solidFill>
              </a:rPr>
              <a:t>Steps 1, 3 and 4 stop working without a mobile network.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404164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26855"/>
                </a:solidFill>
              </a:rPr>
              <a:t>HURRICANE MILTON, FLORIDA (OCT 2024): CELL SITES IN TROUBLE, OUT OF 15,877</a:t>
            </a:r>
          </a:p>
        </p:txBody>
      </p:sp>
      <p:graphicFrame>
        <p:nvGraphicFramePr>
          <p:cNvPr id="59" name="Chart 58"/>
          <p:cNvGraphicFramePr>
            <a:graphicFrameLocks noGrp="1"/>
          </p:cNvGraphicFramePr>
          <p:nvPr/>
        </p:nvGraphicFramePr>
        <p:xfrm>
          <a:off x="548640" y="4315968"/>
          <a:ext cx="69494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60" name="Rounded Rectangle 59"/>
          <p:cNvSpPr/>
          <p:nvPr/>
        </p:nvSpPr>
        <p:spPr>
          <a:xfrm>
            <a:off x="7772400" y="4206240"/>
            <a:ext cx="3886200" cy="1691640"/>
          </a:xfrm>
          <a:prstGeom prst="roundRect">
            <a:avLst>
              <a:gd name="adj" fmla="val 7567"/>
            </a:avLst>
          </a:prstGeom>
          <a:solidFill>
            <a:srgbClr val="094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Icon FaTowerCell" descr="FaTowerCell_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73568" y="4361688"/>
            <a:ext cx="365760" cy="36576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458200" y="431596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7AC143"/>
                </a:solidFill>
              </a:rPr>
              <a:t>What the chart tells 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73568" y="4818888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Most towers didn't break. They ran out of power. Another 612 were living on batteries. Once those drain, steps 1, 3 and 4 above fail for a whole district at once.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053328"/>
            <a:ext cx="11109960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900" b="0" i="1">
                <a:solidFill>
                  <a:srgbClr val="5B6F6B"/>
                </a:solidFill>
              </a:rPr>
              <a:t>Source: FCC Disaster Information Reporting System figures via Inside Towers (Oct 2024). Icons: Font Awesome Free (CC BY 4.0), via react-icons.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 spc="200">
                <a:solidFill>
                  <a:srgbClr val="4FA278"/>
                </a:solidFill>
              </a:rPr>
              <a:t>05  ·  KEY CHALLENGES</a:t>
            </a:r>
            <a:endParaRPr lang="en-US" sz="2400" dirty="0"/>
          </a:p>
          <a:p>
            <a:pPr algn="ctr"/>
            <a:r>
              <a:rPr sz="2200" b="1">
                <a:solidFill>
                  <a:srgbClr val="052B35"/>
                </a:solidFill>
                <a:latin typeface="Cambria"/>
              </a:rPr>
              <a:t>The weak point is the data, not the dispatch logic</a:t>
            </a:r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 NAME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Shinchan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  <p:pic>
        <p:nvPicPr>
          <p:cNvPr id="26" name="Icon FaSitemap" descr="FaSitemap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98448"/>
            <a:ext cx="274320" cy="274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4400" y="129844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026855"/>
                </a:solidFill>
              </a:rPr>
              <a:t>WHY IT HAPPENS</a:t>
            </a:r>
          </a:p>
        </p:txBody>
      </p:sp>
      <p:pic>
        <p:nvPicPr>
          <p:cNvPr id="28" name="Icon FaCircleExclamation" descr="FaCircleExclamation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298448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754880" y="129844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026855"/>
                </a:solidFill>
              </a:rPr>
              <a:t>WHAT GOES WRONG</a:t>
            </a:r>
          </a:p>
        </p:txBody>
      </p:sp>
      <p:pic>
        <p:nvPicPr>
          <p:cNvPr id="30" name="Icon FaPersonCircleExclamation" descr="FaPersonCircleExclamation_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1298448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595360" y="129844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B03A2E"/>
                </a:solidFill>
              </a:rPr>
              <a:t>WHAT IT COSTS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1682496"/>
            <a:ext cx="3429000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1682496"/>
            <a:ext cx="31363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052B35"/>
                </a:solidFill>
              </a:rPr>
              <a:t>Dispatch software assumes the network is always on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055363" y="1883664"/>
            <a:ext cx="256032" cy="237744"/>
          </a:xfrm>
          <a:prstGeom prst="rightArrow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389120" y="1682496"/>
            <a:ext cx="3429000" cy="640080"/>
          </a:xfrm>
          <a:prstGeom prst="roundRect">
            <a:avLst>
              <a:gd name="adj" fmla="val 14285"/>
            </a:avLst>
          </a:prstGeom>
          <a:solidFill>
            <a:srgbClr val="E3F0E8"/>
          </a:solidFill>
          <a:ln w="12700">
            <a:solidFill>
              <a:srgbClr val="B9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53712" y="1682496"/>
            <a:ext cx="31363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052B35"/>
                </a:solidFill>
              </a:rPr>
              <a:t>Crews in dead zones or outages are cut off from the control room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895844" y="1883664"/>
            <a:ext cx="256032" cy="237744"/>
          </a:xfrm>
          <a:prstGeom prst="rightArrow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229600" y="1682496"/>
            <a:ext cx="3429000" cy="640080"/>
          </a:xfrm>
          <a:prstGeom prst="roundRect">
            <a:avLst>
              <a:gd name="adj" fmla="val 14285"/>
            </a:avLst>
          </a:prstGeom>
          <a:solidFill>
            <a:srgbClr val="F7E4E1"/>
          </a:solidFill>
          <a:ln w="12700">
            <a:solidFill>
              <a:srgbClr val="E8C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94192" y="1682496"/>
            <a:ext cx="31363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7A231B"/>
                </a:solidFill>
              </a:rPr>
              <a:t>Calls wait while nobody can reach a free ambulance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2414016"/>
            <a:ext cx="3429000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" y="2414016"/>
            <a:ext cx="31363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052B35"/>
                </a:solidFill>
              </a:rPr>
              <a:t>Nothing measures how fresh the control room's data is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4055363" y="2615184"/>
            <a:ext cx="256032" cy="237744"/>
          </a:xfrm>
          <a:prstGeom prst="rightArrow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389120" y="2414016"/>
            <a:ext cx="3429000" cy="640080"/>
          </a:xfrm>
          <a:prstGeom prst="roundRect">
            <a:avLst>
              <a:gd name="adj" fmla="val 14285"/>
            </a:avLst>
          </a:prstGeom>
          <a:solidFill>
            <a:srgbClr val="E3F0E8"/>
          </a:solidFill>
          <a:ln w="12700">
            <a:solidFill>
              <a:srgbClr val="B9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53712" y="2414016"/>
            <a:ext cx="31363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052B35"/>
                </a:solidFill>
              </a:rPr>
              <a:t>Ambulance position and status go out of date without anyone noticing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7895844" y="2615184"/>
            <a:ext cx="256032" cy="237744"/>
          </a:xfrm>
          <a:prstGeom prst="rightArrow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229600" y="2414016"/>
            <a:ext cx="3429000" cy="640080"/>
          </a:xfrm>
          <a:prstGeom prst="roundRect">
            <a:avLst>
              <a:gd name="adj" fmla="val 14285"/>
            </a:avLst>
          </a:prstGeom>
          <a:solidFill>
            <a:srgbClr val="F7E4E1"/>
          </a:solidFill>
          <a:ln w="12700">
            <a:solidFill>
              <a:srgbClr val="E8C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94192" y="2414016"/>
            <a:ext cx="31363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7A231B"/>
                </a:solidFill>
              </a:rPr>
              <a:t>Wrong ambulance sent, then reassigned; minutes lost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3145536"/>
            <a:ext cx="3429000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13232" y="3145536"/>
            <a:ext cx="31363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052B35"/>
                </a:solidFill>
              </a:rPr>
              <a:t>One control room makes every decision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055363" y="3346704"/>
            <a:ext cx="256032" cy="237744"/>
          </a:xfrm>
          <a:prstGeom prst="rightArrow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4389120" y="3145536"/>
            <a:ext cx="3429000" cy="640080"/>
          </a:xfrm>
          <a:prstGeom prst="roundRect">
            <a:avLst>
              <a:gd name="adj" fmla="val 14285"/>
            </a:avLst>
          </a:prstGeom>
          <a:solidFill>
            <a:srgbClr val="E3F0E8"/>
          </a:solidFill>
          <a:ln w="12700">
            <a:solidFill>
              <a:srgbClr val="B9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53712" y="3145536"/>
            <a:ext cx="31363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052B35"/>
                </a:solidFill>
              </a:rPr>
              <a:t>If it crashes or gets overloaded, no ambulance gets a new job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7895844" y="3346704"/>
            <a:ext cx="256032" cy="237744"/>
          </a:xfrm>
          <a:prstGeom prst="rightArrow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229600" y="3145536"/>
            <a:ext cx="3429000" cy="640080"/>
          </a:xfrm>
          <a:prstGeom prst="roundRect">
            <a:avLst>
              <a:gd name="adj" fmla="val 14285"/>
            </a:avLst>
          </a:prstGeom>
          <a:solidFill>
            <a:srgbClr val="F7E4E1"/>
          </a:solidFill>
          <a:ln w="12700">
            <a:solidFill>
              <a:srgbClr val="E8C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94192" y="3145536"/>
            <a:ext cx="31363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7A231B"/>
                </a:solidFill>
              </a:rPr>
              <a:t>One failure stops dispatch for the entire city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3877056"/>
            <a:ext cx="3429000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13232" y="3877056"/>
            <a:ext cx="31363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052B35"/>
                </a:solidFill>
              </a:rPr>
              <a:t>Crews have no shared way to coordinate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4055363" y="4078224"/>
            <a:ext cx="256032" cy="237744"/>
          </a:xfrm>
          <a:prstGeom prst="rightArrow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4389120" y="3877056"/>
            <a:ext cx="3429000" cy="640080"/>
          </a:xfrm>
          <a:prstGeom prst="roundRect">
            <a:avLst>
              <a:gd name="adj" fmla="val 14285"/>
            </a:avLst>
          </a:prstGeom>
          <a:solidFill>
            <a:srgbClr val="E3F0E8"/>
          </a:solidFill>
          <a:ln w="12700">
            <a:solidFill>
              <a:srgbClr val="B9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53712" y="3877056"/>
            <a:ext cx="31363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052B35"/>
                </a:solidFill>
              </a:rPr>
              <a:t>When the link returns, two crews took one call, or nobody did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7895844" y="4078224"/>
            <a:ext cx="256032" cy="237744"/>
          </a:xfrm>
          <a:prstGeom prst="rightArrow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8229600" y="3877056"/>
            <a:ext cx="3429000" cy="640080"/>
          </a:xfrm>
          <a:prstGeom prst="roundRect">
            <a:avLst>
              <a:gd name="adj" fmla="val 14285"/>
            </a:avLst>
          </a:prstGeom>
          <a:solidFill>
            <a:srgbClr val="F7E4E1"/>
          </a:solidFill>
          <a:ln w="12700">
            <a:solidFill>
              <a:srgbClr val="E8C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394192" y="3877056"/>
            <a:ext cx="31363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7A231B"/>
                </a:solidFill>
              </a:rPr>
              <a:t>Ambulances wasted and calls missed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4645152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B03A2E"/>
                </a:solidFill>
              </a:rPr>
              <a:t>THE KNOCK-ON EFFECT OF ONE WRONG ASSIGNMENT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5486400"/>
            <a:ext cx="2134209" cy="457200"/>
          </a:xfrm>
          <a:prstGeom prst="roundRect">
            <a:avLst>
              <a:gd name="adj" fmla="val 16000"/>
            </a:avLst>
          </a:prstGeom>
          <a:solidFill>
            <a:srgbClr val="D9E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/>
            <a:r>
              <a:rPr sz="1200" b="1" i="0">
                <a:solidFill>
                  <a:srgbClr val="052B35"/>
                </a:solidFill>
              </a:rPr>
              <a:t>1  </a:t>
            </a:r>
            <a:r>
              <a:rPr sz="1150" b="1" i="0">
                <a:solidFill>
                  <a:srgbClr val="052B35"/>
                </a:solidFill>
              </a:rPr>
              <a:t>Wrong ambulance sent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92577" y="5330952"/>
            <a:ext cx="2134209" cy="612648"/>
          </a:xfrm>
          <a:prstGeom prst="roundRect">
            <a:avLst>
              <a:gd name="adj" fmla="val 11940"/>
            </a:avLst>
          </a:prstGeom>
          <a:solidFill>
            <a:srgbClr val="EA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/>
            <a:r>
              <a:rPr sz="1200" b="1" i="0">
                <a:solidFill>
                  <a:srgbClr val="052B35"/>
                </a:solidFill>
              </a:rPr>
              <a:t>2  </a:t>
            </a:r>
            <a:r>
              <a:rPr sz="1150" b="1" i="0">
                <a:solidFill>
                  <a:srgbClr val="052B35"/>
                </a:solidFill>
              </a:rPr>
              <a:t>Reassigned minutes later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036515" y="5175504"/>
            <a:ext cx="2134209" cy="768096"/>
          </a:xfrm>
          <a:prstGeom prst="roundRect">
            <a:avLst>
              <a:gd name="adj" fmla="val 9523"/>
            </a:avLst>
          </a:prstGeom>
          <a:solidFill>
            <a:srgbClr val="E8B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/>
            <a:r>
              <a:rPr sz="1200" b="1" i="0">
                <a:solidFill>
                  <a:srgbClr val="052B35"/>
                </a:solidFill>
              </a:rPr>
              <a:t>3  </a:t>
            </a:r>
            <a:r>
              <a:rPr sz="1150" b="1" i="0">
                <a:solidFill>
                  <a:srgbClr val="052B35"/>
                </a:solidFill>
              </a:rPr>
              <a:t>Patient waits longer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280452" y="5020056"/>
            <a:ext cx="2134209" cy="923544"/>
          </a:xfrm>
          <a:prstGeom prst="roundRect">
            <a:avLst>
              <a:gd name="adj" fmla="val 7920"/>
            </a:avLst>
          </a:prstGeom>
          <a:solidFill>
            <a:srgbClr val="D98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  </a:t>
            </a:r>
            <a:r>
              <a:rPr sz="1150" b="1" i="0">
                <a:solidFill>
                  <a:srgbClr val="FFFFFF"/>
                </a:solidFill>
              </a:rPr>
              <a:t>Its old area has no cover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524390" y="4864608"/>
            <a:ext cx="2134209" cy="1078992"/>
          </a:xfrm>
          <a:prstGeom prst="roundRect">
            <a:avLst>
              <a:gd name="adj" fmla="val 6779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  </a:t>
            </a:r>
            <a:r>
              <a:rPr sz="1150" b="1" i="0">
                <a:solidFill>
                  <a:srgbClr val="FFFFFF"/>
                </a:solidFill>
              </a:rPr>
              <a:t>The next call waits too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053328"/>
            <a:ext cx="11109960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900" b="0" i="1">
                <a:solidFill>
                  <a:srgbClr val="5B6F6B"/>
                </a:solidFill>
              </a:rPr>
              <a:t>Icons: Font Awesome Free (CC BY 4.0), via react-icons.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 spc="200">
                <a:solidFill>
                  <a:srgbClr val="4FA278"/>
                </a:solidFill>
              </a:rPr>
              <a:t>06  ·  EXISTING SOLUTIONS / APPROACHES</a:t>
            </a:r>
            <a:endParaRPr lang="en-US" sz="2400" dirty="0"/>
          </a:p>
          <a:p>
            <a:pPr algn="ctr"/>
            <a:r>
              <a:rPr sz="2200" b="1">
                <a:solidFill>
                  <a:srgbClr val="052B35"/>
                </a:solidFill>
                <a:latin typeface="Cambria"/>
              </a:rPr>
              <a:t>Two stages of an outage have no answer today</a:t>
            </a:r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 NAME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Shinchan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801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26855"/>
                </a:solidFill>
              </a:rPr>
              <a:t>WHO HELPS AT EACH STAGE OF AN OUTAGE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65576" y="1627632"/>
            <a:ext cx="1984248" cy="457200"/>
          </a:xfrm>
          <a:prstGeom prst="roundRect">
            <a:avLst>
              <a:gd name="adj" fmla="val 20000"/>
            </a:avLst>
          </a:prstGeom>
          <a:solidFill>
            <a:srgbClr val="094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Icon FaHeadset" descr="FaHeadset_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1719072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904487" y="1627632"/>
            <a:ext cx="14904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Normal day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22976" y="1627632"/>
            <a:ext cx="1984248" cy="457200"/>
          </a:xfrm>
          <a:prstGeom prst="roundRect">
            <a:avLst>
              <a:gd name="adj" fmla="val 20000"/>
            </a:avLst>
          </a:prstGeom>
          <a:solidFill>
            <a:srgbClr val="094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Icon FaClock" descr="FaClock_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704" y="1719072"/>
            <a:ext cx="274320" cy="274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961888" y="1627632"/>
            <a:ext cx="14904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 going stale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0" y="2157984"/>
            <a:ext cx="0" cy="2743200"/>
          </a:xfrm>
          <a:prstGeom prst="line">
            <a:avLst/>
          </a:prstGeom>
          <a:ln w="12700">
            <a:solidFill>
              <a:srgbClr val="D3E6D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580375" y="1627632"/>
            <a:ext cx="1984248" cy="457200"/>
          </a:xfrm>
          <a:prstGeom prst="roundRect">
            <a:avLst>
              <a:gd name="adj" fmla="val 20000"/>
            </a:avLst>
          </a:prstGeom>
          <a:solidFill>
            <a:srgbClr val="094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con MdWifiOff" descr="MdWifiOff_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0104" y="1719072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019288" y="1627632"/>
            <a:ext cx="14904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Network or control room down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543800" y="2157984"/>
            <a:ext cx="0" cy="2743200"/>
          </a:xfrm>
          <a:prstGeom prst="line">
            <a:avLst/>
          </a:prstGeom>
          <a:ln w="12700">
            <a:solidFill>
              <a:srgbClr val="D3E6D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637776" y="1627632"/>
            <a:ext cx="1984248" cy="457200"/>
          </a:xfrm>
          <a:prstGeom prst="roundRect">
            <a:avLst>
              <a:gd name="adj" fmla="val 20000"/>
            </a:avLst>
          </a:prstGeom>
          <a:solidFill>
            <a:srgbClr val="094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Icon FaArrowsRotate" descr="FaArrowsRotate_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7504" y="1719072"/>
            <a:ext cx="274320" cy="2743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076688" y="1627632"/>
            <a:ext cx="14904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Network coming back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01200" y="2157984"/>
            <a:ext cx="0" cy="2743200"/>
          </a:xfrm>
          <a:prstGeom prst="line">
            <a:avLst/>
          </a:prstGeom>
          <a:ln w="12700">
            <a:solidFill>
              <a:srgbClr val="D3E6D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48640" y="2286000"/>
            <a:ext cx="365760" cy="365760"/>
          </a:xfrm>
          <a:prstGeom prst="ellipse">
            <a:avLst/>
          </a:prstGeom>
          <a:solidFill>
            <a:srgbClr val="4F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Icon FaRoute" descr="FaRout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" y="2373782"/>
            <a:ext cx="190195" cy="19019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05840" y="224028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52B35"/>
                </a:solidFill>
              </a:rPr>
              <a:t>Smart routing &amp; green corridors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83864" y="2295144"/>
            <a:ext cx="1947672" cy="347472"/>
          </a:xfrm>
          <a:prstGeom prst="roundRect">
            <a:avLst>
              <a:gd name="adj" fmla="val 50000"/>
            </a:avLst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Faster route once assigned</a:t>
            </a:r>
          </a:p>
        </p:txBody>
      </p:sp>
      <p:sp>
        <p:nvSpPr>
          <p:cNvPr id="46" name="Oval 45"/>
          <p:cNvSpPr/>
          <p:nvPr/>
        </p:nvSpPr>
        <p:spPr>
          <a:xfrm>
            <a:off x="548640" y="2816352"/>
            <a:ext cx="365760" cy="365760"/>
          </a:xfrm>
          <a:prstGeom prst="ellipse">
            <a:avLst/>
          </a:prstGeom>
          <a:solidFill>
            <a:srgbClr val="4F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Icon FaServer" descr="FaServer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422" y="2904134"/>
            <a:ext cx="190195" cy="19019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05840" y="277063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52B35"/>
                </a:solidFill>
              </a:rPr>
              <a:t>Backup control rooms &amp; servers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98664" y="2825496"/>
            <a:ext cx="1947672" cy="347472"/>
          </a:xfrm>
          <a:prstGeom prst="roundRect">
            <a:avLst>
              <a:gd name="adj" fmla="val 50000"/>
            </a:avLst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Server crash only, not a cut link</a:t>
            </a:r>
          </a:p>
        </p:txBody>
      </p:sp>
      <p:sp>
        <p:nvSpPr>
          <p:cNvPr id="50" name="Oval 49"/>
          <p:cNvSpPr/>
          <p:nvPr/>
        </p:nvSpPr>
        <p:spPr>
          <a:xfrm>
            <a:off x="548640" y="3346704"/>
            <a:ext cx="365760" cy="365760"/>
          </a:xfrm>
          <a:prstGeom prst="ellipse">
            <a:avLst/>
          </a:prstGeom>
          <a:solidFill>
            <a:srgbClr val="4F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Icon FaRadio" descr="FaRadio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422" y="3434486"/>
            <a:ext cx="190195" cy="19019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05840" y="3300984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52B35"/>
                </a:solidFill>
              </a:rPr>
              <a:t>Manual radio, phone &amp; paper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98664" y="3355848"/>
            <a:ext cx="1947672" cy="347472"/>
          </a:xfrm>
          <a:prstGeom prst="roundRect">
            <a:avLst>
              <a:gd name="adj" fmla="val 50000"/>
            </a:avLst>
          </a:prstGeom>
          <a:solidFill>
            <a:srgbClr val="B9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000" b="1" i="0">
                <a:solidFill>
                  <a:srgbClr val="052B35"/>
                </a:solidFill>
              </a:rPr>
              <a:t>Slow and error-prone</a:t>
            </a:r>
          </a:p>
        </p:txBody>
      </p:sp>
      <p:sp>
        <p:nvSpPr>
          <p:cNvPr id="54" name="Oval 53"/>
          <p:cNvSpPr/>
          <p:nvPr/>
        </p:nvSpPr>
        <p:spPr>
          <a:xfrm>
            <a:off x="548640" y="3877056"/>
            <a:ext cx="365760" cy="365760"/>
          </a:xfrm>
          <a:prstGeom prst="ellipse">
            <a:avLst/>
          </a:prstGeom>
          <a:solidFill>
            <a:srgbClr val="4F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Icon FaTowerCell" descr="FaTowerCell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422" y="3964838"/>
            <a:ext cx="190195" cy="19019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05840" y="3831336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52B35"/>
                </a:solidFill>
              </a:rPr>
              <a:t>Satellite phones &amp; portable towers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24494" y="3886200"/>
            <a:ext cx="1021841" cy="347472"/>
          </a:xfrm>
          <a:prstGeom prst="roundRect">
            <a:avLst>
              <a:gd name="adj" fmla="val 50000"/>
            </a:avLst>
          </a:prstGeom>
          <a:solidFill>
            <a:srgbClr val="B9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000" b="1" i="0">
                <a:solidFill>
                  <a:srgbClr val="052B35"/>
                </a:solidFill>
              </a:rPr>
              <a:t>Hours late</a:t>
            </a:r>
          </a:p>
        </p:txBody>
      </p:sp>
      <p:sp>
        <p:nvSpPr>
          <p:cNvPr id="58" name="Oval 57"/>
          <p:cNvSpPr/>
          <p:nvPr/>
        </p:nvSpPr>
        <p:spPr>
          <a:xfrm>
            <a:off x="548640" y="4407408"/>
            <a:ext cx="365760" cy="365760"/>
          </a:xfrm>
          <a:prstGeom prst="ellipse">
            <a:avLst/>
          </a:prstGeom>
          <a:solidFill>
            <a:srgbClr val="4F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Icon FaSitemap" descr="FaSitemap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6422" y="4495190"/>
            <a:ext cx="190195" cy="19019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05840" y="4361688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52B35"/>
                </a:solidFill>
              </a:rPr>
              <a:t>Distributed task sharing (robotics)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598664" y="4416552"/>
            <a:ext cx="1947672" cy="347472"/>
          </a:xfrm>
          <a:prstGeom prst="roundRect">
            <a:avLst>
              <a:gd name="adj" fmla="val 50000"/>
            </a:avLst>
          </a:prstGeom>
          <a:solidFill>
            <a:srgbClr val="B9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000" b="1" i="0">
                <a:solidFill>
                  <a:srgbClr val="052B35"/>
                </a:solidFill>
              </a:rPr>
              <a:t>Built for robots, not patients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559552" y="2212848"/>
            <a:ext cx="1911095" cy="2670048"/>
          </a:xfrm>
          <a:prstGeom prst="roundRect">
            <a:avLst>
              <a:gd name="adj" fmla="val 5741"/>
            </a:avLst>
          </a:prstGeom>
          <a:solidFill>
            <a:srgbClr val="F7E4E1"/>
          </a:solidFill>
          <a:ln w="12700">
            <a:solidFill>
              <a:srgbClr val="B03A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Icon FaPuzzlePiece" descr="FaPuzzlePiece_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3932" y="2743200"/>
            <a:ext cx="402336" cy="402336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5650992" y="3246120"/>
            <a:ext cx="172821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B03A2E"/>
                </a:solidFill>
              </a:rPr>
              <a:t>EMPTY</a:t>
            </a:r>
          </a:p>
          <a:p>
            <a:pPr algn="ctr"/>
            <a:r>
              <a:rPr sz="1050" b="0" i="0">
                <a:solidFill>
                  <a:srgbClr val="7A231B"/>
                </a:solidFill>
              </a:rPr>
              <a:t>Nothing today notices that the control room's picture is getting old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74352" y="2212848"/>
            <a:ext cx="1911095" cy="2670048"/>
          </a:xfrm>
          <a:prstGeom prst="roundRect">
            <a:avLst>
              <a:gd name="adj" fmla="val 5741"/>
            </a:avLst>
          </a:prstGeom>
          <a:solidFill>
            <a:srgbClr val="F7E4E1"/>
          </a:solidFill>
          <a:ln w="12700">
            <a:solidFill>
              <a:srgbClr val="B03A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Icon FaPuzzlePiece" descr="FaPuzzlePiece_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28732" y="2743200"/>
            <a:ext cx="402336" cy="402336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765792" y="3246120"/>
            <a:ext cx="172821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B03A2E"/>
                </a:solidFill>
              </a:rPr>
              <a:t>EMPTY</a:t>
            </a:r>
          </a:p>
          <a:p>
            <a:pPr algn="ctr"/>
            <a:r>
              <a:rPr sz="1050" b="0" i="0">
                <a:solidFill>
                  <a:srgbClr val="7A231B"/>
                </a:solidFill>
              </a:rPr>
              <a:t>Nothing merges ambulance records back without losing or doubling calls</a:t>
            </a:r>
          </a:p>
        </p:txBody>
      </p:sp>
      <p:pic>
        <p:nvPicPr>
          <p:cNvPr id="68" name="Icon FaPuzzlePiece" descr="FaPuzzlePiece_G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5193792"/>
            <a:ext cx="384048" cy="38404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051560" y="50749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026855"/>
                </a:solidFill>
              </a:rPr>
              <a:t>Our project fills the two empty columns: </a:t>
            </a:r>
            <a:r>
              <a:rPr sz="1300" b="0" i="0">
                <a:solidFill>
                  <a:srgbClr val="052B35"/>
                </a:solidFill>
              </a:rPr>
              <a:t>spot stale data before it causes a bad dispatch, and bring everyone back in sync after the outage.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053328"/>
            <a:ext cx="11109960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900" b="0" i="1">
                <a:solidFill>
                  <a:srgbClr val="5B6F6B"/>
                </a:solidFill>
              </a:rPr>
              <a:t>Smart routing example: H. Su et al., "EMVLight", arXiv:2206.13441 (2022). Icons: Font Awesome Free (CC BY 4.0), via react-icons.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 spc="200">
                <a:solidFill>
                  <a:srgbClr val="4FA278"/>
                </a:solidFill>
              </a:rPr>
              <a:t>07  ·  PROBLEM INSIGHTS &amp; OPPORTUNITY AREAS</a:t>
            </a:r>
            <a:endParaRPr lang="en-US" sz="2400" dirty="0"/>
          </a:p>
          <a:p>
            <a:pPr algn="ctr"/>
            <a:r>
              <a:rPr sz="2200" b="1">
                <a:solidFill>
                  <a:srgbClr val="052B35"/>
                </a:solidFill>
                <a:latin typeface="Cambria"/>
              </a:rPr>
              <a:t>Buildable with open data and a low-cost kit</a:t>
            </a:r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 NAME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Shinchan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98448"/>
            <a:ext cx="7178040" cy="4069080"/>
          </a:xfrm>
          <a:prstGeom prst="roundRect">
            <a:avLst>
              <a:gd name="adj" fmla="val 3595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13898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26855"/>
                </a:solidFill>
              </a:rPr>
              <a:t>WHAT WE WILL BUILD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1755648"/>
            <a:ext cx="3017520" cy="1170432"/>
          </a:xfrm>
          <a:prstGeom prst="roundRect">
            <a:avLst>
              <a:gd name="adj" fmla="val 9375"/>
            </a:avLst>
          </a:prstGeom>
          <a:solidFill>
            <a:srgbClr val="F3F8F5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4400" y="1938528"/>
            <a:ext cx="548640" cy="548640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on FaLaptopCode" descr="FaLaptopCod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073" y="2070201"/>
            <a:ext cx="285292" cy="28529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00200" y="1865376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52B35"/>
                </a:solidFill>
              </a:rPr>
              <a:t>City simulator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194560"/>
            <a:ext cx="21031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F6B"/>
                </a:solidFill>
              </a:rPr>
              <a:t>SUMO + OSMnx in Python, on our own laptops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" y="2615184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4F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2615184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SOFTWARE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60" y="1755648"/>
            <a:ext cx="3017520" cy="1170432"/>
          </a:xfrm>
          <a:prstGeom prst="roundRect">
            <a:avLst>
              <a:gd name="adj" fmla="val 9375"/>
            </a:avLst>
          </a:prstGeom>
          <a:solidFill>
            <a:srgbClr val="F3F8F5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617720" y="1938528"/>
            <a:ext cx="548640" cy="548640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Icon FaDesktop" descr="FaDeskto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393" y="2070201"/>
            <a:ext cx="285292" cy="28529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303520" y="1865376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52B35"/>
                </a:solidFill>
              </a:rPr>
              <a:t>Control-room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2194560"/>
            <a:ext cx="21031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F6B"/>
                </a:solidFill>
              </a:rPr>
              <a:t>React + Node.js, logs in MongoDB, code on GitHub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2615184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4F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663440" y="2615184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SOFTWARE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813048" y="2340864"/>
            <a:ext cx="649224" cy="0"/>
          </a:xfrm>
          <a:prstGeom prst="line">
            <a:avLst/>
          </a:prstGeom>
          <a:ln w="25400">
            <a:solidFill>
              <a:srgbClr val="0268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767328" y="1938528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900" b="0" i="0">
                <a:solidFill>
                  <a:srgbClr val="5B6F6B"/>
                </a:solidFill>
              </a:rPr>
              <a:t>calls &amp;
outages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307238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26855"/>
                </a:solidFill>
              </a:rPr>
              <a:t>FIELD TEST: 3 CARS STANDING IN FOR AMBULANCES</a:t>
            </a:r>
          </a:p>
        </p:txBody>
      </p:sp>
      <p:sp>
        <p:nvSpPr>
          <p:cNvPr id="45" name="Oval 44"/>
          <p:cNvSpPr/>
          <p:nvPr/>
        </p:nvSpPr>
        <p:spPr>
          <a:xfrm>
            <a:off x="1261872" y="3429000"/>
            <a:ext cx="676656" cy="676656"/>
          </a:xfrm>
          <a:prstGeom prst="ellipse">
            <a:avLst/>
          </a:prstGeom>
          <a:solidFill>
            <a:srgbClr val="094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Icon FaCar" descr="FaCa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4269" y="3591397"/>
            <a:ext cx="351861" cy="35186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143000" y="4133087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2B35"/>
                </a:solidFill>
              </a:rPr>
              <a:t>Car 1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984248" y="3767328"/>
            <a:ext cx="1380743" cy="0"/>
          </a:xfrm>
          <a:prstGeom prst="line">
            <a:avLst/>
          </a:prstGeom>
          <a:ln w="25400">
            <a:solidFill>
              <a:srgbClr val="7AC143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011680" y="3456432"/>
            <a:ext cx="132587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26855"/>
                </a:solidFill>
              </a:rPr>
              <a:t>LoRa radio</a:t>
            </a:r>
          </a:p>
        </p:txBody>
      </p:sp>
      <p:sp>
        <p:nvSpPr>
          <p:cNvPr id="50" name="Oval 49"/>
          <p:cNvSpPr/>
          <p:nvPr/>
        </p:nvSpPr>
        <p:spPr>
          <a:xfrm>
            <a:off x="3410711" y="3429000"/>
            <a:ext cx="676656" cy="676656"/>
          </a:xfrm>
          <a:prstGeom prst="ellipse">
            <a:avLst/>
          </a:prstGeom>
          <a:solidFill>
            <a:srgbClr val="094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Icon FaCar" descr="FaCa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109" y="3591397"/>
            <a:ext cx="351861" cy="35186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291839" y="4133087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2B35"/>
                </a:solidFill>
              </a:rPr>
              <a:t>Car 2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133087" y="3767328"/>
            <a:ext cx="1380745" cy="0"/>
          </a:xfrm>
          <a:prstGeom prst="line">
            <a:avLst/>
          </a:prstGeom>
          <a:ln w="25400">
            <a:solidFill>
              <a:srgbClr val="7AC143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160520" y="3456432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26855"/>
                </a:solidFill>
              </a:rPr>
              <a:t>LoRa radio</a:t>
            </a:r>
          </a:p>
        </p:txBody>
      </p:sp>
      <p:sp>
        <p:nvSpPr>
          <p:cNvPr id="55" name="Oval 54"/>
          <p:cNvSpPr/>
          <p:nvPr/>
        </p:nvSpPr>
        <p:spPr>
          <a:xfrm>
            <a:off x="5559552" y="3429000"/>
            <a:ext cx="676656" cy="676656"/>
          </a:xfrm>
          <a:prstGeom prst="ellipse">
            <a:avLst/>
          </a:prstGeom>
          <a:solidFill>
            <a:srgbClr val="094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Icon FaCar" descr="FaCa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1949" y="3591397"/>
            <a:ext cx="351861" cy="351861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440680" y="4133087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2B35"/>
                </a:solidFill>
              </a:rPr>
              <a:t>Car 3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5897880" y="2944368"/>
            <a:ext cx="0" cy="475488"/>
          </a:xfrm>
          <a:prstGeom prst="line">
            <a:avLst/>
          </a:prstGeom>
          <a:ln w="19050">
            <a:solidFill>
              <a:srgbClr val="5B6F6B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989320" y="301752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5B6F6B"/>
                </a:solidFill>
              </a:rPr>
              <a:t>4G when
available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" y="4443984"/>
            <a:ext cx="6766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52B35"/>
                </a:solidFill>
              </a:rPr>
              <a:t>Each car carries: </a:t>
            </a:r>
            <a:r>
              <a:rPr sz="1100" b="0" i="0">
                <a:solidFill>
                  <a:srgbClr val="052B35"/>
                </a:solidFill>
              </a:rPr>
              <a:t>an ESP32 board, a LoRa radio module and GPS (or an Android phone). The radios let the cars talk to each other even when the mobile network is down.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40" y="502920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77240" y="5029200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HARDWARE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01000" y="12984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26855"/>
                </a:solidFill>
              </a:rPr>
              <a:t>THE TEAM</a:t>
            </a:r>
          </a:p>
        </p:txBody>
      </p:sp>
      <p:sp>
        <p:nvSpPr>
          <p:cNvPr id="64" name="Oval 63"/>
          <p:cNvSpPr/>
          <p:nvPr/>
        </p:nvSpPr>
        <p:spPr>
          <a:xfrm>
            <a:off x="8156448" y="1627632"/>
            <a:ext cx="566928" cy="566928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79" y="2221992"/>
            <a:ext cx="96926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52B35"/>
                </a:solidFill>
              </a:rPr>
              <a:t>Bhanu</a:t>
            </a:r>
          </a:p>
        </p:txBody>
      </p:sp>
      <p:sp>
        <p:nvSpPr>
          <p:cNvPr id="66" name="Oval 65"/>
          <p:cNvSpPr/>
          <p:nvPr/>
        </p:nvSpPr>
        <p:spPr>
          <a:xfrm>
            <a:off x="9070848" y="1627632"/>
            <a:ext cx="566928" cy="566928"/>
          </a:xfrm>
          <a:prstGeom prst="ellipse">
            <a:avLst/>
          </a:prstGeom>
          <a:solidFill>
            <a:srgbClr val="4F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69680" y="2221992"/>
            <a:ext cx="96926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52B35"/>
                </a:solidFill>
              </a:rPr>
              <a:t>Bhagyalakshmi</a:t>
            </a:r>
          </a:p>
        </p:txBody>
      </p:sp>
      <p:sp>
        <p:nvSpPr>
          <p:cNvPr id="68" name="Oval 67"/>
          <p:cNvSpPr/>
          <p:nvPr/>
        </p:nvSpPr>
        <p:spPr>
          <a:xfrm>
            <a:off x="9985248" y="1627632"/>
            <a:ext cx="566928" cy="566928"/>
          </a:xfrm>
          <a:prstGeom prst="ellipse">
            <a:avLst/>
          </a:prstGeom>
          <a:solidFill>
            <a:srgbClr val="4F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84080" y="2221992"/>
            <a:ext cx="96926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52B35"/>
                </a:solidFill>
              </a:rPr>
              <a:t>Pavan</a:t>
            </a:r>
          </a:p>
        </p:txBody>
      </p:sp>
      <p:sp>
        <p:nvSpPr>
          <p:cNvPr id="70" name="Oval 69"/>
          <p:cNvSpPr/>
          <p:nvPr/>
        </p:nvSpPr>
        <p:spPr>
          <a:xfrm>
            <a:off x="10899648" y="1627632"/>
            <a:ext cx="566928" cy="566928"/>
          </a:xfrm>
          <a:prstGeom prst="ellipse">
            <a:avLst/>
          </a:prstGeom>
          <a:solidFill>
            <a:srgbClr val="4F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98480" y="2221992"/>
            <a:ext cx="96926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52B35"/>
                </a:solidFill>
              </a:rPr>
              <a:t>Manasvith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01000" y="28529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26855"/>
                </a:solidFill>
              </a:rPr>
              <a:t>DATA &amp; INPUTS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001000" y="3163824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4" name="Icon FaDatabase" descr="FaDatabase_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0727" y="3218688"/>
            <a:ext cx="219456" cy="219456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412480" y="3163824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052B35"/>
                </a:solidFill>
              </a:rPr>
              <a:t>NYC EMS dispatch records (open data)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001000" y="3566160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Icon FaFileLines" descr="FaFileLines_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0727" y="3621024"/>
            <a:ext cx="219456" cy="219456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412480" y="3566160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052B35"/>
                </a:solidFill>
              </a:rPr>
              <a:t>FCC disaster outage reports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001000" y="3968496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Icon FaMapLocationDot" descr="FaMapLocationDot_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0727" y="4023359"/>
            <a:ext cx="219456" cy="21945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8412480" y="3968496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052B35"/>
                </a:solidFill>
              </a:rPr>
              <a:t>OpenStreetMap road network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001000" y="4370832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Icon FaComments" descr="FaComments_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0727" y="4425696"/>
            <a:ext cx="219456" cy="219456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8412480" y="4370832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052B35"/>
                </a:solidFill>
              </a:rPr>
              <a:t>A chat with 108 / hospital ambulance staff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01000" y="479145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26855"/>
                </a:solidFill>
              </a:rPr>
              <a:t>BUDGET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01000" y="50292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26855"/>
                </a:solidFill>
              </a:rPr>
              <a:t>&lt; ₹10,000  </a:t>
            </a:r>
            <a:r>
              <a:rPr sz="1000" b="0" i="0">
                <a:solidFill>
                  <a:srgbClr val="5B6F6B"/>
                </a:solidFill>
              </a:rPr>
              <a:t>boards and modules only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48640" y="5504688"/>
            <a:ext cx="11109960" cy="475488"/>
          </a:xfrm>
          <a:prstGeom prst="roundRect">
            <a:avLst>
              <a:gd name="adj" fmla="val 23076"/>
            </a:avLst>
          </a:prstGeom>
          <a:solidFill>
            <a:srgbClr val="094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31520" y="5504688"/>
            <a:ext cx="107899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7AC143"/>
                </a:solidFill>
              </a:rPr>
              <a:t>Opportunity: </a:t>
            </a:r>
            <a:r>
              <a:rPr sz="1200" b="0" i="0">
                <a:solidFill>
                  <a:srgbClr val="FFFFFF"/>
                </a:solidFill>
              </a:rPr>
              <a:t>the same simulator can later test flood-aware routing and fake location data.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8640" y="6053328"/>
            <a:ext cx="11109960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900" b="0" i="1">
                <a:solidFill>
                  <a:srgbClr val="5B6F6B"/>
                </a:solidFill>
              </a:rPr>
              <a:t>Icons: Font Awesome Free (CC BY 4.0), via react-icons.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 spc="200">
                <a:solidFill>
                  <a:srgbClr val="4FA278"/>
                </a:solidFill>
              </a:rPr>
              <a:t>08  ·  INITIAL DIRECTION &amp; EXPECTED OUTCOME</a:t>
            </a:r>
            <a:endParaRPr lang="en-US" sz="2400" dirty="0"/>
          </a:p>
          <a:p>
            <a:pPr algn="ctr"/>
            <a:r>
              <a:rPr sz="2200" b="1">
                <a:solidFill>
                  <a:srgbClr val="052B35"/>
                </a:solidFill>
                <a:latin typeface="Cambria"/>
              </a:rPr>
              <a:t>Keep dispatch working when the network fails</a:t>
            </a:r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 NAME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Shinchan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61872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26855"/>
                </a:solidFill>
              </a:rPr>
              <a:t>WHAT WE WILL DO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1572768"/>
            <a:ext cx="3611880" cy="960120"/>
          </a:xfrm>
          <a:prstGeom prst="roundRect">
            <a:avLst>
              <a:gd name="adj" fmla="val 11428"/>
            </a:avLst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85800" y="179222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Icon FaHeadset" descr="FaHeadset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5" y="1920240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53312" y="1609344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  Normal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2" y="1920240"/>
            <a:ext cx="269748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Control room assigns ambulances, just like today.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2235708" y="2551176"/>
            <a:ext cx="237744" cy="182880"/>
          </a:xfrm>
          <a:prstGeom prst="downArrow">
            <a:avLst/>
          </a:prstGeom>
          <a:solidFill>
            <a:srgbClr val="5B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48640" y="2761488"/>
            <a:ext cx="3611880" cy="960120"/>
          </a:xfrm>
          <a:prstGeom prst="roundRect">
            <a:avLst>
              <a:gd name="adj" fmla="val 11428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85800" y="298094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con FaTowerBroadcast" descr="FaTowerBroadcast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5" y="3108960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53312" y="2798064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  Fallback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53312" y="3108960"/>
            <a:ext cx="269748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Data goes stale or the network drops: ambulances coordinate among themselves over LoRa radio.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2235708" y="3739896"/>
            <a:ext cx="237744" cy="182880"/>
          </a:xfrm>
          <a:prstGeom prst="downArrow">
            <a:avLst/>
          </a:prstGeom>
          <a:solidFill>
            <a:srgbClr val="5B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48640" y="3950208"/>
            <a:ext cx="3611880" cy="960120"/>
          </a:xfrm>
          <a:prstGeom prst="roundRect">
            <a:avLst>
              <a:gd name="adj" fmla="val 11428"/>
            </a:avLst>
          </a:prstGeom>
          <a:solidFill>
            <a:srgbClr val="4F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85800" y="41696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Icon FaCodeMerge" descr="FaCodeMerge_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5" y="4297680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353312" y="3986784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  Hand-back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53312" y="4297680"/>
            <a:ext cx="269748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Network returns: every ambulance's records are merged and the control room takes over again.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138928"/>
            <a:ext cx="3611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26855"/>
                </a:solidFill>
              </a:rPr>
              <a:t>How we test it: </a:t>
            </a:r>
            <a:r>
              <a:rPr sz="1050" b="0" i="0">
                <a:solidFill>
                  <a:srgbClr val="052B35"/>
                </a:solidFill>
              </a:rPr>
              <a:t>a simulation of Coimbatore's roads with ambulances, calls and network failures, then a demo with 3 cars and LoRa radios.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126187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26855"/>
                </a:solidFill>
              </a:rPr>
              <a:t>WHAT WE WANT TO IMPROVE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0" y="1572768"/>
            <a:ext cx="3931920" cy="434340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Connector 46"/>
          <p:cNvCxnSpPr/>
          <p:nvPr/>
        </p:nvCxnSpPr>
        <p:spPr>
          <a:xfrm>
            <a:off x="4892040" y="4526280"/>
            <a:ext cx="3200400" cy="0"/>
          </a:xfrm>
          <a:prstGeom prst="line">
            <a:avLst/>
          </a:prstGeom>
          <a:ln w="19050">
            <a:solidFill>
              <a:srgbClr val="5B6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92040" y="2011680"/>
            <a:ext cx="0" cy="2514600"/>
          </a:xfrm>
          <a:prstGeom prst="line">
            <a:avLst/>
          </a:prstGeom>
          <a:ln w="19050">
            <a:solidFill>
              <a:srgbClr val="5B6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001768" y="196596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5B6F6B"/>
                </a:solidFill>
              </a:rPr>
              <a:t>Response time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2040" y="4581144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5B6F6B"/>
                </a:solidFill>
              </a:rPr>
              <a:t>Share of the mobile network lost  →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4937759" y="4160520"/>
            <a:ext cx="1164032" cy="91440"/>
          </a:xfrm>
          <a:prstGeom prst="line">
            <a:avLst/>
          </a:prstGeom>
          <a:ln w="38100">
            <a:solidFill>
              <a:srgbClr val="B0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101791" y="3429000"/>
            <a:ext cx="735177" cy="731520"/>
          </a:xfrm>
          <a:prstGeom prst="line">
            <a:avLst/>
          </a:prstGeom>
          <a:ln w="38100">
            <a:solidFill>
              <a:srgbClr val="B0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836968" y="2377440"/>
            <a:ext cx="1164032" cy="1051560"/>
          </a:xfrm>
          <a:prstGeom prst="line">
            <a:avLst/>
          </a:prstGeom>
          <a:ln w="38100">
            <a:solidFill>
              <a:srgbClr val="B0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937759" y="4160520"/>
            <a:ext cx="1164032" cy="91440"/>
          </a:xfrm>
          <a:prstGeom prst="line">
            <a:avLst/>
          </a:prstGeom>
          <a:ln w="38100">
            <a:solidFill>
              <a:srgbClr val="0268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101791" y="3931920"/>
            <a:ext cx="735177" cy="228600"/>
          </a:xfrm>
          <a:prstGeom prst="line">
            <a:avLst/>
          </a:prstGeom>
          <a:ln w="38100">
            <a:solidFill>
              <a:srgbClr val="0268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836968" y="3611880"/>
            <a:ext cx="1164032" cy="320040"/>
          </a:xfrm>
          <a:prstGeom prst="line">
            <a:avLst/>
          </a:prstGeom>
          <a:ln w="38100">
            <a:solidFill>
              <a:srgbClr val="0268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074920" y="2377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B03A2E"/>
                </a:solidFill>
              </a:rPr>
              <a:t>Today: response times shoot 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24320" y="4187952"/>
            <a:ext cx="17766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026855"/>
                </a:solidFill>
              </a:rPr>
              <a:t>With our system: stays near normal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16459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052B35"/>
                </a:solidFill>
              </a:rPr>
              <a:t>The one graph we want to prove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0" y="4983480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BE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950" b="1" i="0">
                <a:solidFill>
                  <a:srgbClr val="7A4A06"/>
                </a:solidFill>
              </a:rPr>
              <a:t>Hypothesis to test, not a result yet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532180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B6F6B"/>
                </a:solidFill>
              </a:rPr>
              <a:t>We also track calls lost, calls answered twice, and how long an area goes without an ambulance.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49640" y="126187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26855"/>
                </a:solidFill>
              </a:rPr>
              <a:t>WHAT SUCCESS LOOKS LIKE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549640" y="1572768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094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732519" y="1627632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7AC143"/>
                </a:solidFill>
              </a:rP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32519" y="2121408"/>
            <a:ext cx="28346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emergency calls lost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549640" y="2660904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732519" y="271576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26855"/>
                </a:solidFill>
              </a:rPr>
              <a:t>&lt; 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32519" y="3209544"/>
            <a:ext cx="28346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052B35"/>
                </a:solidFill>
              </a:rPr>
              <a:t>of calls get two ambulances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549640" y="3749039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732519" y="3803903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26855"/>
                </a:solidFill>
              </a:rPr>
              <a:t>≈ normal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32519" y="4297679"/>
            <a:ext cx="28346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052B35"/>
                </a:solidFill>
              </a:rPr>
              <a:t>response time with 40% of the network down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549640" y="4837175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732519" y="4892039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26855"/>
                </a:solidFill>
              </a:rPr>
              <a:t>= today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32519" y="5385815"/>
            <a:ext cx="28346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052B35"/>
                </a:solidFill>
              </a:rPr>
              <a:t>performance on a healthy network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053328"/>
            <a:ext cx="11109960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900" b="0" i="1">
                <a:solidFill>
                  <a:srgbClr val="5B6F6B"/>
                </a:solidFill>
              </a:rPr>
              <a:t>Targets are our goals for the prototype, not results. Icons: Font Awesome Free (CC BY 4.0), via react-icons.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1490</Words>
  <Application>Microsoft Macintosh PowerPoint</Application>
  <PresentationFormat>Widescreen</PresentationFormat>
  <Paragraphs>218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Genesis Ideathon</vt:lpstr>
      <vt:lpstr>PowerPoint Presentation</vt:lpstr>
      <vt:lpstr>02  ·  DOMAIN PROBLEM IN OUR WORDS Dispatch decides on a map that is already out of date</vt:lpstr>
      <vt:lpstr>03  ·  WHO IS AFFECTED? Patients feel it first; the whole chain feels it next</vt:lpstr>
      <vt:lpstr>04  ·  CURRENT SITUATION &amp; CONTEXT 3 of 5 dispatch steps need a working network</vt:lpstr>
      <vt:lpstr>05  ·  KEY CHALLENGES The weak point is the data, not the dispatch logic</vt:lpstr>
      <vt:lpstr>06  ·  EXISTING SOLUTIONS / APPROACHES Two stages of an outage have no answer today</vt:lpstr>
      <vt:lpstr>07  ·  PROBLEM INSIGHTS &amp; OPPORTUNITY AREAS Buildable with open data and a low-cost kit</vt:lpstr>
      <vt:lpstr>08  ·  INITIAL DIRECTION &amp; EXPECTED OUTCOME Keep dispatch working when the network fails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Bhanu Prasad Palella</cp:lastModifiedBy>
  <cp:revision>2</cp:revision>
  <dcterms:created xsi:type="dcterms:W3CDTF">2026-10-07T15:27:40Z</dcterms:created>
  <dcterms:modified xsi:type="dcterms:W3CDTF">2026-10-09T17:50:52Z</dcterms:modified>
</cp:coreProperties>
</file>